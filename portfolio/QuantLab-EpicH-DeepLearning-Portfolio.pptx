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914400"/>
            <a:ext cx="1097280" cy="640080"/>
          </a:xfrm>
          <a:prstGeom prst="line">
            <a:avLst/>
          </a:prstGeom>
          <a:noFill/>
          <a:ln w="12700">
            <a:solidFill>
              <a:srgbClr val="35C2F5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554480"/>
            <a:ext cx="914400" cy="-548640"/>
          </a:xfrm>
          <a:prstGeom prst="line">
            <a:avLst/>
          </a:prstGeom>
          <a:noFill/>
          <a:ln w="12700">
            <a:solidFill>
              <a:srgbClr val="35C2F5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1005840"/>
            <a:ext cx="822960" cy="822960"/>
          </a:xfrm>
          <a:prstGeom prst="line">
            <a:avLst/>
          </a:prstGeom>
          <a:noFill/>
          <a:ln w="12700">
            <a:solidFill>
              <a:srgbClr val="35C2F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868680"/>
            <a:ext cx="91440" cy="91440"/>
          </a:xfrm>
          <a:prstGeom prst="ellipse">
            <a:avLst/>
          </a:prstGeom>
          <a:solidFill>
            <a:srgbClr val="35C2F5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46920" y="1508760"/>
            <a:ext cx="91440" cy="9144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61320" y="960120"/>
            <a:ext cx="91440" cy="91440"/>
          </a:xfrm>
          <a:prstGeom prst="ellipse">
            <a:avLst/>
          </a:prstGeom>
          <a:solidFill>
            <a:srgbClr val="35C2F5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84280" y="1783080"/>
            <a:ext cx="91440" cy="9144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2194560"/>
            <a:ext cx="1005840" cy="457200"/>
          </a:xfrm>
          <a:prstGeom prst="line">
            <a:avLst/>
          </a:prstGeom>
          <a:noFill/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2651760"/>
            <a:ext cx="1097280" cy="-365760"/>
          </a:xfrm>
          <a:prstGeom prst="line">
            <a:avLst/>
          </a:prstGeom>
          <a:noFill/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2148840"/>
            <a:ext cx="91440" cy="914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12680" y="2606040"/>
            <a:ext cx="91440" cy="9144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09960" y="2240280"/>
            <a:ext cx="91440" cy="914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640080"/>
            <a:ext cx="1371600" cy="1371600"/>
          </a:xfrm>
          <a:prstGeom prst="ellipse">
            <a:avLst/>
          </a:prstGeom>
          <a:solidFill>
            <a:srgbClr val="02C39A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163677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15453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MACHINE-LEARNING PORTFOLIO · 深度學習課程作品集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011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深度學習研究實驗室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Deep-Learning Research Lab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 參考模型</a:t>
            </a:r>
            <a:pPr algn="l" indent="0" marL="0">
              <a:buNone/>
            </a:pPr>
            <a:r>
              <a:rPr lang="en-US" sz="16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→  </a:t>
            </a:r>
            <a:pPr algn="l" indent="0" marL="0">
              <a:buNone/>
            </a:pPr>
            <a:r>
              <a:rPr lang="en-US" sz="1600" b="1" dirty="0">
                <a:solidFill>
                  <a:srgbClr val="F5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PyTorch 訓練</a:t>
            </a:r>
            <a:pPr algn="l" indent="0" marL="0">
              <a:buNone/>
            </a:pPr>
            <a:r>
              <a:rPr lang="en-US" sz="16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→  </a:t>
            </a:r>
            <a:pPr algn="l"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互動研究 UI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 reference model  →  real PyTorch training  →  interactive research UI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852160" cy="548640"/>
          </a:xfrm>
          <a:prstGeom prst="roundRect">
            <a:avLst>
              <a:gd name="adj" fmla="val 50000"/>
            </a:avLst>
          </a:prstGeom>
          <a:solidFill>
            <a:srgbClr val="1E2C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74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方法論誠實 ＞ alpha · methodology honesty over alpha · no_alpha_claim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YC Chang · ycchang.pmp@gmail.com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· 專案概覽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一個對自己結果誠實的量化研究實驗室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quant research lab that never lies about its own results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是個人、純紙上 (paper-only) 量化研究平台。成功 = 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方法論誠實 + 實驗能力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，而非 alpha。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personal, paper-only quant lab. Success = methodology honesty + experimentation capability, not alpha — every model slice declares no_alpha_claim.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85216" cy="58521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3769888"/>
            <a:ext cx="269199" cy="26919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81328" y="35753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為唯一權威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481328" y="38862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is the only ranking authority — baseline always visible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585216" cy="585216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4638568"/>
            <a:ext cx="269199" cy="26919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81328" y="44439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PIT-safe 資料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481328" y="47548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PIT-safe: available_date ≤ asof; approximate data strict-excluded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349240"/>
            <a:ext cx="585216" cy="585216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5507248"/>
            <a:ext cx="269199" cy="2691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81328" y="53126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Fail-closed 誠實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481328" y="56235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Fail-closed by default — never emits a misleading computed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18120" y="2103120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818120" y="2267712"/>
            <a:ext cx="64008" cy="364845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8110728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專案規模 · At a glance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110728" y="2697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4200" dirty="0"/>
          </a:p>
        </p:txBody>
      </p:sp>
      <p:sp>
        <p:nvSpPr>
          <p:cNvPr id="27" name="Text 22"/>
          <p:cNvSpPr/>
          <p:nvPr/>
        </p:nvSpPr>
        <p:spPr>
          <a:xfrm>
            <a:off x="8129016" y="330098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Epics 已實作 / implemented (A0→H)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110728" y="3776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435</a:t>
            </a:r>
            <a:endParaRPr lang="en-US" sz="4200" dirty="0"/>
          </a:p>
        </p:txBody>
      </p:sp>
      <p:sp>
        <p:nvSpPr>
          <p:cNvPr id="29" name="Text 24"/>
          <p:cNvSpPr/>
          <p:nvPr/>
        </p:nvSpPr>
        <p:spPr>
          <a:xfrm>
            <a:off x="8129016" y="43799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Python 測試通過 / tests pass (2 skipped)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110728" y="4855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4200" dirty="0"/>
          </a:p>
        </p:txBody>
      </p:sp>
      <p:sp>
        <p:nvSpPr>
          <p:cNvPr id="31" name="Text 26"/>
          <p:cNvSpPr/>
          <p:nvPr/>
        </p:nvSpPr>
        <p:spPr>
          <a:xfrm>
            <a:off x="8129016" y="545896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alpha 宣稱 / alpha claims — no_alpha_claim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· 系統架構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框架隔離：核心引擎永不依賴任何 ML 框架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 isolation — the core engine never imports an ML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FrameworkAdapterRegistry 惰性解析 torch/jax/tf，缺席時誠實降級為 reference；import-linter 兩條契約 KEPT 強制邊界。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44952"/>
            <a:ext cx="6400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3044952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168396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2971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engine / data 核心 · core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508760" y="32826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向量化回測引擎、PIT loader — 不 import torch/jax/tf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79476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959352"/>
            <a:ext cx="64008" cy="457200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18" name="Shape 15"/>
          <p:cNvSpPr/>
          <p:nvPr/>
        </p:nvSpPr>
        <p:spPr>
          <a:xfrm>
            <a:off x="877824" y="3959352"/>
            <a:ext cx="457200" cy="457200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4082796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8760" y="3886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策略 adapter 邊界 · boundary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508760" y="41970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DeepForecastAllocationStrategy 將模型接入 A0 引擎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" y="4709160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4873752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20"/>
          <p:cNvSpPr/>
          <p:nvPr/>
        </p:nvSpPr>
        <p:spPr>
          <a:xfrm>
            <a:off x="877824" y="4873752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997196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08760" y="4800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DL backend registry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508760" y="51114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惰性解析 + 誠實 fallback / lazy resolve + honest fallback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0080" y="566928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import-linter 禁止 / forbids:  engine / data  ⊁  torch · jax · tf · DL backend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772400" y="2697480"/>
            <a:ext cx="3794760" cy="3383280"/>
          </a:xfrm>
          <a:prstGeom prst="roundRect">
            <a:avLst>
              <a:gd name="adj" fmla="val 2432"/>
            </a:avLst>
          </a:prstGeom>
          <a:solidFill>
            <a:srgbClr val="1421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0" y="2862072"/>
            <a:ext cx="64008" cy="305409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1" name="Text 26"/>
          <p:cNvSpPr/>
          <p:nvPr/>
        </p:nvSpPr>
        <p:spPr>
          <a:xfrm>
            <a:off x="804672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可插拔 backends · pluggable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046720" y="32918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229600" y="355701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9"/>
          <p:cNvSpPr/>
          <p:nvPr/>
        </p:nvSpPr>
        <p:spPr>
          <a:xfrm>
            <a:off x="8549640" y="33649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reference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8549640" y="3666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framework-free，永不 raise / never raises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8046720" y="41605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229600" y="4425696"/>
            <a:ext cx="182880" cy="18288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38" name="Text 33"/>
          <p:cNvSpPr/>
          <p:nvPr/>
        </p:nvSpPr>
        <p:spPr>
          <a:xfrm>
            <a:off x="8549640" y="42336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pytorch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8549640" y="4535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autograd 訓練 / real training (H-2)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8046720" y="502920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229600" y="5294376"/>
            <a:ext cx="182880" cy="182880"/>
          </a:xfrm>
          <a:prstGeom prst="ellipse">
            <a:avLst/>
          </a:prstGeom>
          <a:solidFill>
            <a:srgbClr val="5C6B89"/>
          </a:solidFill>
          <a:ln/>
        </p:spPr>
      </p:sp>
      <p:sp>
        <p:nvSpPr>
          <p:cNvPr id="42" name="Text 37"/>
          <p:cNvSpPr/>
          <p:nvPr/>
        </p:nvSpPr>
        <p:spPr>
          <a:xfrm>
            <a:off x="8549640" y="51023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jax / tensorflow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8549640" y="54041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已註冊，缺席時 fallback / registered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· 切片 SLICE H-1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82935" y="594360"/>
            <a:ext cx="868680" cy="8686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479" y="828904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H-1 — 深度學習研究 lab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0080" y="156362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Deep-learning research lab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1214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 確定性參考模型 + 完整實驗 CLI 與 MLOps lineage。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24323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framework-free deterministic reference model + full experiment CLI and MLOps lineage.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136392"/>
            <a:ext cx="64008" cy="8961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2"/>
          <p:cNvSpPr/>
          <p:nvPr/>
        </p:nvSpPr>
        <p:spPr>
          <a:xfrm>
            <a:off x="896112" y="330098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3449117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2763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Reference MLP forecaster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2763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 NumPy、PIT-safe、per-epoch learning trace · pure-NumPy, PIT-safe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3136392"/>
            <a:ext cx="64008" cy="8961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9672" y="330098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3449117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5119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統計效能報告 · Performance report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25119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distribution / rolling-Sharpe / drawdown / learning-curve；退化輸入 fail-closed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4507992"/>
            <a:ext cx="64008" cy="8961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2"/>
          <p:cNvSpPr/>
          <p:nvPr/>
        </p:nvSpPr>
        <p:spPr>
          <a:xfrm>
            <a:off x="896112" y="467258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4820717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2763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參數化實驗 CLI · Experiment CLI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62763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run_dl_experiment.py：模型 + dumb baseline 跑過 A0 引擎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26364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63640" y="4507992"/>
            <a:ext cx="64008" cy="8961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27"/>
          <p:cNvSpPr/>
          <p:nvPr/>
        </p:nvSpPr>
        <p:spPr>
          <a:xfrm>
            <a:off x="6519672" y="467258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5" y="4820717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ExperimentRegistry lineage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25119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確定性 idempotent experiment_id + self-contained SVG/HTML viz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· 切片 SLICE H-2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82935" y="594360"/>
            <a:ext cx="868680" cy="868680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479" y="828904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H-2 — 真實 PyTorch 訓練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0080" y="156362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Real PyTorch training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1214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pytorch backend 真的用 torch autograd 訓練 reference MLP — 而非 mock。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24323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Makes the pytorch backend actually train the reference MLP via torch autograd — not a mock.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136392"/>
            <a:ext cx="64008" cy="89611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5" name="Shape 12"/>
          <p:cNvSpPr/>
          <p:nvPr/>
        </p:nvSpPr>
        <p:spPr>
          <a:xfrm>
            <a:off x="896112" y="3300984"/>
            <a:ext cx="548640" cy="548640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3449117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2763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torch 訓練 · Real training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2763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torch autograd、float64 高精度，位於 lazy backend 邊界之後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3136392"/>
            <a:ext cx="64008" cy="89611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9672" y="3300984"/>
            <a:ext cx="548640" cy="548640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3449117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5119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Seed-init parity ≤ 1e-3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25119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reference 種子初始化一致、deterministic、可重現 · reproducible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4507992"/>
            <a:ext cx="64008" cy="89611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7" name="Shape 22"/>
          <p:cNvSpPr/>
          <p:nvPr/>
        </p:nvSpPr>
        <p:spPr>
          <a:xfrm>
            <a:off x="896112" y="4672584"/>
            <a:ext cx="548640" cy="548640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4820717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2763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Optional torch lane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62763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預設跳過 (pytest.importorskip)；torch 缺席時誠實回退 reference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26364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63640" y="4507992"/>
            <a:ext cx="64008" cy="896112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3" name="Shape 27"/>
          <p:cNvSpPr/>
          <p:nvPr/>
        </p:nvSpPr>
        <p:spPr>
          <a:xfrm>
            <a:off x="6519672" y="4672584"/>
            <a:ext cx="548640" cy="548640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5" y="4820717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框架隔離 KEPT · Isolation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25119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torch 不進 default lock；import-linter「DL backend boundary」守住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· 切片 SLICE H-3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82935" y="594360"/>
            <a:ext cx="868680" cy="868680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479" y="828904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H-3 — 互動研究 UI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0080" y="156362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Interactive research UI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1214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Epic H 成果搬上 dashboard：調參數、讀 model-vs-baseline 排行榜。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243230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Brings Epic H onto the dashboard: tune parameters, read a model-vs-baseline leaderboard.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136392"/>
            <a:ext cx="64008" cy="896112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5" name="Shape 12"/>
          <p:cNvSpPr/>
          <p:nvPr/>
        </p:nvSpPr>
        <p:spPr>
          <a:xfrm>
            <a:off x="896112" y="3300984"/>
            <a:ext cx="548640" cy="548640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3449117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2763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參數工作流 · Parameter workflow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2763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backend / hiddenUnits / lookback / epochs / seed / rebalance 控制項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29718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3136392"/>
            <a:ext cx="64008" cy="896112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Shape 17"/>
          <p:cNvSpPr/>
          <p:nvPr/>
        </p:nvSpPr>
        <p:spPr>
          <a:xfrm>
            <a:off x="6519672" y="3300984"/>
            <a:ext cx="548640" cy="548640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3449117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51192" y="31363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排行榜 · Leaderboard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251192" y="34747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確定性 static_replay，baseline 永遠可見 · baseline always visible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4507992"/>
            <a:ext cx="64008" cy="896112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7" name="Shape 22"/>
          <p:cNvSpPr/>
          <p:nvPr/>
        </p:nvSpPr>
        <p:spPr>
          <a:xfrm>
            <a:off x="896112" y="4672584"/>
            <a:ext cx="548640" cy="548640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4820717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2763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Fail-closed 行為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62763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不支援參數或 checksum 不符 → status=fail_closed，不渲染假結果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263640" y="434340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63640" y="4507992"/>
            <a:ext cx="64008" cy="896112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3" name="Shape 27"/>
          <p:cNvSpPr/>
          <p:nvPr/>
        </p:nvSpPr>
        <p:spPr>
          <a:xfrm>
            <a:off x="6519672" y="4672584"/>
            <a:ext cx="548640" cy="548640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5" y="4820717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4507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Chromium VRT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251192" y="484632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e2e:interactive：computed→fail_closed，0-pixel 視覺回歸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 · 誠實工程 HONESTY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與眾不同之處：對自己結果說真話的工程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sets it apart — engineering that tells the truth about its results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349240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50592"/>
            <a:ext cx="64008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596896"/>
            <a:ext cx="676656" cy="67665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097" y="2779593"/>
            <a:ext cx="311262" cy="3112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92224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no_alpha_claim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792224" y="29809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每個切片明確宣告不主張獲利；OOS-net 唯一權威，baseline 永遠可見 · OOS-net is the only authority, baseline always shown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286000"/>
            <a:ext cx="5349240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2450592"/>
            <a:ext cx="64008" cy="1298448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2596896"/>
            <a:ext cx="676656" cy="676656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657" y="2779593"/>
            <a:ext cx="311262" cy="31126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15784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PIT-safe · 無 lookahead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415784" y="29809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available_date ≤ asof；歷史回填標 is_approximate=true 並被 strict 模式排除 · strict mode excludes approximate data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0080" y="4069080"/>
            <a:ext cx="5349240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4233672"/>
            <a:ext cx="64008" cy="12984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3" name="Shape 19"/>
          <p:cNvSpPr/>
          <p:nvPr/>
        </p:nvSpPr>
        <p:spPr>
          <a:xfrm>
            <a:off x="914400" y="4379976"/>
            <a:ext cx="676656" cy="676656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97" y="4562673"/>
            <a:ext cx="311262" cy="3112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92224" y="4343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近似資料警告 · Warnings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792224" y="47640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research_mode_approximate_availability 全程顯示，不假裝是 true-PIT · never pretends to be true-PIT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63640" y="4069080"/>
            <a:ext cx="5349240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263640" y="4233672"/>
            <a:ext cx="64008" cy="129844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9" name="Shape 24"/>
          <p:cNvSpPr/>
          <p:nvPr/>
        </p:nvSpPr>
        <p:spPr>
          <a:xfrm>
            <a:off x="6537960" y="4379976"/>
            <a:ext cx="676656" cy="676656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57" y="4562673"/>
            <a:ext cx="311262" cy="3112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15784" y="4343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Fail-closed by default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415784" y="47640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資料不足、過取樣、checksum 不符一律 fail-closed，絕不輸出誤導的 computed · never a misleading computed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 · 真實實驗輸出 REAL EXPERIMENT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模型誠實地輸給 buy-and-hold — 這正是重點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model honestly loses to buy-and-hold — that is the point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" y="2139696"/>
            <a:ext cx="3858768" cy="3858768"/>
          </a:xfrm>
          <a:prstGeom prst="roundRect">
            <a:avLst>
              <a:gd name="adj" fmla="val 1422"/>
            </a:avLst>
          </a:prstGeom>
          <a:solidFill>
            <a:srgbClr val="FFFFFF"/>
          </a:solidFill>
          <a:ln w="19050">
            <a:solidFill>
              <a:srgbClr val="35C2F5"/>
            </a:solidFill>
            <a:prstDash val="solid"/>
          </a:ln>
          <a:effectLst>
            <a:outerShdw sx="100000" sy="100000" kx="0" ky="0" algn="bl" rotWithShape="0" blurRad="165100" dist="63500" dir="5400000">
              <a:srgbClr val="000000">
                <a:alpha val="42000"/>
              </a:srgbClr>
            </a:outerShdw>
          </a:effectLst>
        </p:spPr>
      </p:sp>
      <p:pic>
        <p:nvPicPr>
          <p:cNvPr id="10" name="Image 0" descr="assets/perf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0280"/>
            <a:ext cx="3657600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 PyTorch 實驗報告 · real run_dl_experiment.py output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92040" y="21945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StaticWeights (baseline)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Sharpe 0.129</a:t>
            </a:r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DeepForecast (model)  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Sharpe 0.092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29718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訓練後的模型在樣本外淨值上輸給 buy-and-hold：機制證據，非策略勝負，no_alpha_claim。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evidence on real data — not a strategy verdict, not an alpha claim.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92040" y="3840480"/>
            <a:ext cx="6675120" cy="2240280"/>
          </a:xfrm>
          <a:prstGeom prst="roundRect">
            <a:avLst>
              <a:gd name="adj" fmla="val 367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2040" y="4005072"/>
            <a:ext cx="64008" cy="191109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39776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資料正確性驗證 · Data-correctness validation 1990→2026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66360" y="4370832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30952" y="4370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dot-com 崩盤 / crash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43708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−49% / −78%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321040" y="4370832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85632" y="4370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金融海嘯 / GFC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58400" y="4370832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−57%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166360" y="512064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0952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COVID 崩盤 / crash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03720" y="5120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−34%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C4A"/>
          </a:solidFill>
          <a:ln w="12700">
            <a:solidFill>
              <a:srgbClr val="2634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85632" y="5120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2022 升息熊市 / bear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058400" y="5120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−25%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 · SHOWCASE 儀表板 RESEARCH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把研究成果變成可讀的儀表板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Turning research output into a readable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" y="2185416"/>
            <a:ext cx="7242048" cy="3904488"/>
          </a:xfrm>
          <a:prstGeom prst="roundRect">
            <a:avLst>
              <a:gd name="adj" fmla="val 1405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65100" dist="63500" dir="5400000">
              <a:srgbClr val="000000">
                <a:alpha val="42000"/>
              </a:srgbClr>
            </a:outerShdw>
          </a:effectLst>
        </p:spPr>
      </p:sp>
      <p:pic>
        <p:nvPicPr>
          <p:cNvPr id="10" name="Image 0" descr="assets/ui-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7040880" cy="3703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92440" y="2286000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697" y="242425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05672" y="2267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805672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OOS-net Sharpe 排序，baseline 標記 · sorted by OOS-net, baseline flagged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92440" y="3236976"/>
            <a:ext cx="512064" cy="512064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697" y="337523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05672" y="3218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Allocation / Regime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805672" y="35112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risk_on、GROWTH/STEADY 配置 · regime-aware allocation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092440" y="4187952"/>
            <a:ext cx="512064" cy="512064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697" y="4326209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05672" y="4169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 Registry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805672" y="4462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entries、readiness、claim 邊界 · MLOps lineage on screen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092440" y="5138928"/>
            <a:ext cx="512064" cy="512064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697" y="5277185"/>
            <a:ext cx="235549" cy="23554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05672" y="5120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no_alpha_claim badge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805672" y="5413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local_demo_only；靜態 artifact self-claim not_proven · honest by contract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Next.js 靜態匯出，由本地 result-store 生成 · Next.js static export from a canonical local result-store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 · 品質與證據 QUALITY &amp;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可驗證的工程：每個宣稱都有 gate 撐著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Verifiable engineering — every claim is backed by a gate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50592"/>
            <a:ext cx="64008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32688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Python 測試通過 / tests pass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11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skipped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61688" y="22860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1688" y="2450592"/>
            <a:ext cx="64008" cy="1298448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24688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118/118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54296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Python mutation killed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54296" y="3511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突變測試 / mutation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83296" y="22860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2450592"/>
            <a:ext cx="64008" cy="1298448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4688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29/29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75904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frontend mutation killed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75904" y="3511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 H-3 守門 / incl. H-3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279392"/>
            <a:ext cx="64008" cy="129844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976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B8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84.12%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32688" y="5029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frontend 覆蓋率 / coverage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2688" y="53400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52 tests · 0 漏洞 / vulns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61688" y="41148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1688" y="4279392"/>
            <a:ext cx="64008" cy="1298448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31" name="Text 29"/>
          <p:cNvSpPr/>
          <p:nvPr/>
        </p:nvSpPr>
        <p:spPr>
          <a:xfrm>
            <a:off x="4636008" y="42976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88 / 242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654296" y="5029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import-linter 檔/依賴 files/deps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654296" y="53400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契約 KEPT / contracts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83296" y="4114800"/>
            <a:ext cx="3493008" cy="1627632"/>
          </a:xfrm>
          <a:prstGeom prst="roundRect">
            <a:avLst>
              <a:gd name="adj" fmla="val 5056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83296" y="4279392"/>
            <a:ext cx="64008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42976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proven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8375904" y="5029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公開部署證明 / public hosting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75904" y="53400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Pages · 0-pixel VRT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· 技術棧 TECH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端到端：研究核心 → 模型 → 前端 → 治理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End to end — research core → model → frontend →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01168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研究與模型 · Research &amp; 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1741932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15768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Python 3.13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83180" y="2715768"/>
            <a:ext cx="1248156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3180" y="2715768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PyTorch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32504" y="2715768"/>
            <a:ext cx="1001268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2715768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NumPy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4940" y="2715768"/>
            <a:ext cx="1248156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4940" y="2715768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A0 回測引擎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84264" y="271576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2715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ExperimentRegistry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602736"/>
            <a:ext cx="201168" cy="274320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5570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前端展示 · Frontend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032504"/>
            <a:ext cx="1248156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35C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32504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Next.js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89404" y="4032504"/>
            <a:ext cx="1001268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35C2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9404" y="4032504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React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1840" y="4032504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35C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4032504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11496" y="4032504"/>
            <a:ext cx="1865376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35C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4032504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靜態匯出 / Pages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919472"/>
            <a:ext cx="201168" cy="2743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" y="4873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品質與治理 · Quality &amp; governance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877824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34924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mypy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719072" y="5349240"/>
            <a:ext cx="1988820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534924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import-linter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909060" y="534924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9060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mutation testing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69380" y="5349240"/>
            <a:ext cx="1865376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9380" y="53492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Chromium VRT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535924" y="534924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35924" y="53492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PBT (Hypothesis)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QuantLab · Epic H · 深度學習研究實驗室 / Deep-Learning Research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"/>
            <a:ext cx="256032" cy="14630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937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 · 展示的能力 SKILLS DEMONSTRATED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這個作品集證明了什麼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156362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this portfolio demonstrates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50592"/>
            <a:ext cx="64008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578608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71" y="2731679"/>
            <a:ext cx="260787" cy="2607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64208" y="2450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ML 工程 · ML engineering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64208" y="2798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 → 真實 PyTorch，理解而非堆疊框架 · understanding over stacking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2286000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2450592"/>
            <a:ext cx="64008" cy="822960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2578608"/>
            <a:ext cx="566928" cy="566928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031" y="2731679"/>
            <a:ext cx="260787" cy="26078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87768" y="24505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軟體架構 · Architecture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287768" y="27980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import-linter 強制邊界，核心與框架解耦 · enforced boundaries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3584448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749040"/>
            <a:ext cx="64008" cy="82296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3" name="Shape 19"/>
          <p:cNvSpPr/>
          <p:nvPr/>
        </p:nvSpPr>
        <p:spPr>
          <a:xfrm>
            <a:off x="914400" y="3877056"/>
            <a:ext cx="566928" cy="566928"/>
          </a:xfrm>
          <a:prstGeom prst="ellipse">
            <a:avLst/>
          </a:prstGeom>
          <a:solidFill>
            <a:srgbClr val="F5B841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71" y="4030127"/>
            <a:ext cx="260787" cy="26078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64208" y="3749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測試嚴謹度 · Test rigor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664208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PBT、mutation、VRT、smoke — 把「CI 會抓到」當成自己的責任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63640" y="3584448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263640" y="3749040"/>
            <a:ext cx="64008" cy="8229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9" name="Shape 24"/>
          <p:cNvSpPr/>
          <p:nvPr/>
        </p:nvSpPr>
        <p:spPr>
          <a:xfrm>
            <a:off x="6537960" y="3877056"/>
            <a:ext cx="566928" cy="566928"/>
          </a:xfrm>
          <a:prstGeom prst="ellipse">
            <a:avLst/>
          </a:prstGeom>
          <a:solidFill>
            <a:srgbClr val="FF7A4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031" y="4030127"/>
            <a:ext cx="260787" cy="26078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87768" y="3749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MLOps lineage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287768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ExperimentRegistry 確定性追蹤 + 可重現 artifact · reproducible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4882896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0080" y="5047488"/>
            <a:ext cx="64008" cy="822960"/>
          </a:xfrm>
          <a:prstGeom prst="rect">
            <a:avLst/>
          </a:prstGeom>
          <a:solidFill>
            <a:srgbClr val="35C2F5"/>
          </a:solidFill>
          <a:ln/>
        </p:spPr>
      </p:sp>
      <p:sp>
        <p:nvSpPr>
          <p:cNvPr id="35" name="Shape 29"/>
          <p:cNvSpPr/>
          <p:nvPr/>
        </p:nvSpPr>
        <p:spPr>
          <a:xfrm>
            <a:off x="914400" y="5175504"/>
            <a:ext cx="566928" cy="566928"/>
          </a:xfrm>
          <a:prstGeom prst="ellipse">
            <a:avLst/>
          </a:prstGeom>
          <a:solidFill>
            <a:srgbClr val="35C2F5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71" y="5328575"/>
            <a:ext cx="260787" cy="26078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64208" y="50474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全端整合 · Full-stack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1664208" y="53949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後端研究核心一路接到 Next.js 互動 dashboard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63640" y="4882896"/>
            <a:ext cx="5349240" cy="1152144"/>
          </a:xfrm>
          <a:prstGeom prst="roundRect">
            <a:avLst>
              <a:gd name="adj" fmla="val 7143"/>
            </a:avLst>
          </a:prstGeom>
          <a:solidFill>
            <a:srgbClr val="16233D"/>
          </a:solidFill>
          <a:ln w="12700">
            <a:solidFill>
              <a:srgbClr val="26344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2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63640" y="5047488"/>
            <a:ext cx="64008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4"/>
          <p:cNvSpPr/>
          <p:nvPr/>
        </p:nvSpPr>
        <p:spPr>
          <a:xfrm>
            <a:off x="6537960" y="5175504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031" y="5328575"/>
            <a:ext cx="260787" cy="260787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87768" y="50474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研究誠實 · Research honesty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287768" y="53949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3A1B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no_alpha_claim、OOS-net、fail-closed — 對結果說真話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212080"/>
            <a:ext cx="1005840" cy="548640"/>
          </a:xfrm>
          <a:prstGeom prst="line">
            <a:avLst/>
          </a:prstGeom>
          <a:noFill/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5760720"/>
            <a:ext cx="1005840" cy="-457200"/>
          </a:xfrm>
          <a:prstGeom prst="line">
            <a:avLst/>
          </a:prstGeom>
          <a:noFill/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5303520"/>
            <a:ext cx="1005840" cy="640080"/>
          </a:xfrm>
          <a:prstGeom prst="line">
            <a:avLst/>
          </a:prstGeom>
          <a:noFill/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5166360"/>
            <a:ext cx="91440" cy="914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5715000"/>
            <a:ext cx="91440" cy="9144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5257800"/>
            <a:ext cx="91440" cy="914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794760" y="5897880"/>
            <a:ext cx="91440" cy="9144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4480560"/>
            <a:ext cx="1554480" cy="1554480"/>
          </a:xfrm>
          <a:prstGeom prst="ellipse">
            <a:avLst/>
          </a:prstGeom>
          <a:solidFill>
            <a:srgbClr val="35C2F5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280160"/>
            <a:ext cx="868680" cy="8686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1514704"/>
            <a:ext cx="399593" cy="39959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2505456"/>
            <a:ext cx="256032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41401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THANK YOU · 深度學習課程作品集 / COURSE PORTFOLIO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2834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把模型做出來不難，難的是對自己的結果誠實。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0080" y="3520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Building a model is easy — being </a:t>
            </a:r>
            <a:pPr algn="l"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honest</a:t>
            </a:r>
            <a:pPr algn="l"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about its results is the hard part.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00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5C2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framework-free 參考模型 → 真實 PyTorch 訓練 → 互動研究 UI，全程 no_alpha_claim · OOS-net · fail-closed.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029200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1E2C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YC Chang · ycchang.pmp@gmail.com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QuantLab Epic H — Deep-Learning Research Lab 作品集 / Portfolio</dc:title>
  <dc:subject>PptxGenJS Presentation</dc:subject>
  <dc:creator>YC Chang</dc:creator>
  <cp:lastModifiedBy>YC Chang</cp:lastModifiedBy>
  <cp:revision>1</cp:revision>
  <dcterms:created xsi:type="dcterms:W3CDTF">2026-06-18T09:03:10Z</dcterms:created>
  <dcterms:modified xsi:type="dcterms:W3CDTF">2026-06-18T09:03:10Z</dcterms:modified>
</cp:coreProperties>
</file>